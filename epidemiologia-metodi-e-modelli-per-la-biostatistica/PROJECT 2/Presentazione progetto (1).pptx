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Quattrocento Sans" panose="020B0502050000020003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28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4056">
          <p15:clr>
            <a:srgbClr val="A4A3A4"/>
          </p15:clr>
        </p15:guide>
        <p15:guide id="4" pos="3864">
          <p15:clr>
            <a:srgbClr val="A4A3A4"/>
          </p15:clr>
        </p15:guide>
        <p15:guide id="5" pos="7512">
          <p15:clr>
            <a:srgbClr val="A4A3A4"/>
          </p15:clr>
        </p15:guide>
        <p15:guide id="6" pos="14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D3xGXzFaT6TMguHRqR69TEDNm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>
        <p:guide orient="horz" pos="2328"/>
        <p:guide orient="horz" pos="624"/>
        <p:guide orient="horz" pos="4056"/>
        <p:guide pos="3864"/>
        <p:guide pos="751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-I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it-IT" sz="1400">
                <a:latin typeface="Arial"/>
                <a:ea typeface="Arial"/>
                <a:cs typeface="Arial"/>
                <a:sym typeface="Arial"/>
              </a:rPr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verticale e tes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6.xml"/><Relationship Id="rId7" Type="http://schemas.openxmlformats.org/officeDocument/2006/relationships/slide" Target="slide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763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2995613"/>
            <a:ext cx="12192000" cy="332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Sofa e CCScore: </a:t>
            </a:r>
            <a:br>
              <a:rPr lang="it-IT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it-IT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un’analisi di sopravvivenza su una coorte di pazienti geriatrici</a:t>
            </a:r>
            <a:br>
              <a:rPr lang="it-IT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92663" y="-608013"/>
            <a:ext cx="2606675" cy="2606676"/>
          </a:xfrm>
          <a:prstGeom prst="diamond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325938" y="-1770063"/>
            <a:ext cx="3540125" cy="3540126"/>
          </a:xfrm>
          <a:prstGeom prst="diamond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0" y="5872163"/>
            <a:ext cx="121920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0" i="0" u="none" strike="noStrike" cap="non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Millone A. (mat. 846588), Rossi S. (mat. 857183), Università degli Studi di Miilano- Bicocca,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0" i="0" u="none" strike="noStrike" cap="non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Laurea Magistrale in Biostatistica, Laboratorio R per la Biostatistica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l="12990" t="12665" r="12906" b="11713"/>
          <a:stretch/>
        </p:blipFill>
        <p:spPr>
          <a:xfrm>
            <a:off x="10644188" y="233363"/>
            <a:ext cx="13239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4111625" y="172085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101" name="Google Shape;101;p2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 b="0" i="0" u="none" strike="noStrike" cap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 b="0" i="0" u="none" strike="noStrike" cap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3" name="Google Shape;103;p2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PROCEDURE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PRELIMINARI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2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CURVE DI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SOPRAVVIVENZA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108;p2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2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2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ANALISI DESCRITTIVE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2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MODELLO DI COX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16" name="Google Shape;116;p2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117" name="Google Shape;117;p2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2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122" name="Google Shape;122;p2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125" name="Google Shape;125;p2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3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134" name="Google Shape;134;p3"/>
          <p:cNvSpPr txBox="1"/>
          <p:nvPr/>
        </p:nvSpPr>
        <p:spPr>
          <a:xfrm>
            <a:off x="228600" y="190500"/>
            <a:ext cx="1173480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Introduzione</a:t>
            </a:r>
            <a:endParaRPr sz="2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5" name="Google Shape;135;p3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36" name="Google Shape;136;p3"/>
          <p:cNvSpPr txBox="1"/>
          <p:nvPr/>
        </p:nvSpPr>
        <p:spPr>
          <a:xfrm>
            <a:off x="666750" y="1225550"/>
            <a:ext cx="109283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di 64 pazienti geriatrici che hanno subito un intervento chirurgico;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con variabili relative a caratteristiche fisiche del paziente e indicatori medici sullo stato di salute;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it-IT" sz="18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Obiettivo</a:t>
            </a: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valutare le differenze di sopravvivenza dei pazienti al variare dei seguenti indici: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203325" y="3378200"/>
            <a:ext cx="3359150" cy="3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7A0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CA7A0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Sofa</a:t>
            </a:r>
            <a:endParaRPr sz="2800">
              <a:solidFill>
                <a:srgbClr val="CA7A0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7600950" y="3378200"/>
            <a:ext cx="3359150" cy="3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0C829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CCScore</a:t>
            </a:r>
            <a:endParaRPr sz="2800">
              <a:solidFill>
                <a:srgbClr val="0C829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66750" y="4079875"/>
            <a:ext cx="518477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CA7A09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Sequential Organ Failure Assesment score;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CA7A09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CA7A09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È una scala che fornisce un punteggio il quale valuta la disfunzione di 6 sistemi (respiratorio, circolatorio, renale, neurologico, epatogenico, della coagulazione)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CA7A09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≤ Sofa ≤ 4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6475413" y="4079875"/>
            <a:ext cx="5487987" cy="228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Charlson Comorbidity Index;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Metoo semplice e rapido che predice l’aspettativa di vita in base a una vasta gamma di condizioni patologiche coesistenti;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Char char="•"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≤ CCScore ≤ 6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C8295"/>
              </a:buClr>
              <a:buSzPts val="23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4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147" name="Google Shape;147;p4"/>
          <p:cNvSpPr txBox="1"/>
          <p:nvPr/>
        </p:nvSpPr>
        <p:spPr>
          <a:xfrm>
            <a:off x="228600" y="190500"/>
            <a:ext cx="1173480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Disegno dello studio</a:t>
            </a: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9" name="Google Shape;149;p4"/>
          <p:cNvSpPr/>
          <p:nvPr/>
        </p:nvSpPr>
        <p:spPr>
          <a:xfrm rot="5400000">
            <a:off x="-645319" y="2486819"/>
            <a:ext cx="4881563" cy="2378075"/>
          </a:xfrm>
          <a:prstGeom prst="trapezoid">
            <a:avLst>
              <a:gd name="adj" fmla="val 25000"/>
            </a:avLst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0" name="Google Shape;150;p4"/>
          <p:cNvSpPr/>
          <p:nvPr/>
        </p:nvSpPr>
        <p:spPr>
          <a:xfrm rot="5400000">
            <a:off x="2214562" y="2487613"/>
            <a:ext cx="4881563" cy="2376488"/>
          </a:xfrm>
          <a:prstGeom prst="trapezoid">
            <a:avLst>
              <a:gd name="adj" fmla="val 25000"/>
            </a:avLst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" name="Google Shape;151;p4"/>
          <p:cNvSpPr/>
          <p:nvPr/>
        </p:nvSpPr>
        <p:spPr>
          <a:xfrm rot="5400000">
            <a:off x="5072857" y="2551906"/>
            <a:ext cx="4883150" cy="2376487"/>
          </a:xfrm>
          <a:prstGeom prst="trapezoid">
            <a:avLst>
              <a:gd name="adj" fmla="val 25000"/>
            </a:avLst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62000" y="2398713"/>
            <a:ext cx="20669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PROCEDURE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621088" y="2401888"/>
            <a:ext cx="20669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ANALISI DESCRITTIVA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480175" y="2398713"/>
            <a:ext cx="2068513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CURVE DI SOPRAVVIVENZA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06425" y="3429000"/>
            <a:ext cx="2378075" cy="97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cleaning</a:t>
            </a:r>
            <a:endParaRPr/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Ricodifica delle variabili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rot="5400000">
            <a:off x="7931944" y="2561431"/>
            <a:ext cx="4883150" cy="2376488"/>
          </a:xfrm>
          <a:prstGeom prst="trapezoid">
            <a:avLst>
              <a:gd name="adj" fmla="val 25000"/>
            </a:avLst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339263" y="2646363"/>
            <a:ext cx="20685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467100" y="3224213"/>
            <a:ext cx="2376488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Distribuzioni univariate</a:t>
            </a:r>
            <a:endParaRPr/>
          </a:p>
          <a:p>
            <a:pPr marL="285750" marR="0" lvl="0" indent="-825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Distribuzioni bivariate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326188" y="3429000"/>
            <a:ext cx="2376487" cy="87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18415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Confronto curve Kaplan-Meier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9228138" y="3438525"/>
            <a:ext cx="2290762" cy="97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18415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Analisi degli hazard ratio  (HR)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4111625" y="172085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67" name="Google Shape;167;p5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168" name="Google Shape;168;p5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70" name="Google Shape;170;p5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PROCEDURE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5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CURVE DI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SOPRAVVIVENZA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5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5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9" name="Google Shape;179;p5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ANALISI DESCRITTIVE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1" name="Google Shape;181;p5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83" name="Google Shape;183;p5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184" name="Google Shape;184;p5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" name="Google Shape;186;p5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5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189" name="Google Shape;189;p5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5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192" name="Google Shape;192;p5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5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6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01" name="Google Shape;201;p6"/>
          <p:cNvSpPr txBox="1"/>
          <p:nvPr/>
        </p:nvSpPr>
        <p:spPr>
          <a:xfrm>
            <a:off x="228600" y="190500"/>
            <a:ext cx="11734800" cy="105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Procedure preliminari: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creazione variabili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it-IT"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03" name="Google Shape;20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617663"/>
            <a:ext cx="7975600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5276850"/>
            <a:ext cx="690245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" y="3338513"/>
            <a:ext cx="9040813" cy="77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6"/>
          <p:cNvCxnSpPr/>
          <p:nvPr/>
        </p:nvCxnSpPr>
        <p:spPr>
          <a:xfrm>
            <a:off x="9393238" y="1682750"/>
            <a:ext cx="0" cy="766763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7" name="Google Shape;207;p6"/>
          <p:cNvSpPr txBox="1"/>
          <p:nvPr/>
        </p:nvSpPr>
        <p:spPr>
          <a:xfrm>
            <a:off x="9628188" y="1712913"/>
            <a:ext cx="242411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Imputazione data di fine follow-up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9393238" y="3179763"/>
            <a:ext cx="0" cy="766762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9" name="Google Shape;209;p6"/>
          <p:cNvSpPr txBox="1"/>
          <p:nvPr/>
        </p:nvSpPr>
        <p:spPr>
          <a:xfrm>
            <a:off x="9628188" y="3333750"/>
            <a:ext cx="2424112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Variabile «tempo»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>
            <a:off x="9393238" y="5132388"/>
            <a:ext cx="0" cy="76835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Google Shape;211;p6"/>
          <p:cNvSpPr txBox="1"/>
          <p:nvPr/>
        </p:nvSpPr>
        <p:spPr>
          <a:xfrm>
            <a:off x="9628188" y="5276850"/>
            <a:ext cx="2424112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Variabile «status»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7"/>
          <p:cNvCxnSpPr/>
          <p:nvPr/>
        </p:nvCxnSpPr>
        <p:spPr>
          <a:xfrm>
            <a:off x="8105775" y="538163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18" name="Google Shape;218;p7"/>
          <p:cNvSpPr txBox="1"/>
          <p:nvPr/>
        </p:nvSpPr>
        <p:spPr>
          <a:xfrm>
            <a:off x="228600" y="190500"/>
            <a:ext cx="11734800" cy="105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Procedure preliminari:</a:t>
            </a:r>
            <a:b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ricodifica variabili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it-IT"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875" y="3087688"/>
            <a:ext cx="7989888" cy="7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4919663"/>
            <a:ext cx="9109075" cy="93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875" y="1420813"/>
            <a:ext cx="7278688" cy="5889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7"/>
          <p:cNvCxnSpPr/>
          <p:nvPr/>
        </p:nvCxnSpPr>
        <p:spPr>
          <a:xfrm>
            <a:off x="9483725" y="1243013"/>
            <a:ext cx="0" cy="766762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4" name="Google Shape;224;p7"/>
          <p:cNvSpPr txBox="1"/>
          <p:nvPr/>
        </p:nvSpPr>
        <p:spPr>
          <a:xfrm>
            <a:off x="9720263" y="1420813"/>
            <a:ext cx="2185987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Sofa ricodificata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9483725" y="3059113"/>
            <a:ext cx="0" cy="76835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6" name="Google Shape;226;p7"/>
          <p:cNvSpPr txBox="1"/>
          <p:nvPr/>
        </p:nvSpPr>
        <p:spPr>
          <a:xfrm>
            <a:off x="9483725" y="3236913"/>
            <a:ext cx="2854325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CCScore ricodificata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7"/>
          <p:cNvCxnSpPr/>
          <p:nvPr/>
        </p:nvCxnSpPr>
        <p:spPr>
          <a:xfrm>
            <a:off x="9483725" y="5033963"/>
            <a:ext cx="0" cy="766762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7"/>
          <p:cNvSpPr txBox="1"/>
          <p:nvPr/>
        </p:nvSpPr>
        <p:spPr>
          <a:xfrm>
            <a:off x="9720263" y="5087938"/>
            <a:ext cx="2185987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Sofa e CCScore combinati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4111625" y="172085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5" name="Google Shape;235;p8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36" name="Google Shape;236;p8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7" name="Google Shape;237;p8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238" name="Google Shape;238;p8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PROCEDURE  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1" name="Google Shape;241;p8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CURVE DI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SOPRAVVIVENZA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p8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5" name="Google Shape;245;p8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8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ANALISI DESCRITTIVE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9" name="Google Shape;249;p8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51" name="Google Shape;251;p8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252" name="Google Shape;252;p8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8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8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257" name="Google Shape;257;p8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8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260" name="Google Shape;260;p8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8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9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69" name="Google Shape;269;p9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descrittive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70" name="Google Shape;270;p9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71" name="Google Shape;271;p9"/>
          <p:cNvPicPr preferRelativeResize="0"/>
          <p:nvPr/>
        </p:nvPicPr>
        <p:blipFill rotWithShape="1">
          <a:blip r:embed="rId3">
            <a:alphaModFix/>
          </a:blip>
          <a:srcRect b="35139"/>
          <a:stretch/>
        </p:blipFill>
        <p:spPr>
          <a:xfrm>
            <a:off x="198438" y="701675"/>
            <a:ext cx="11734800" cy="566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10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78" name="Google Shape;278;p10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descrittive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79" name="Google Shape;279;p10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80" name="Google Shape;2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17538"/>
            <a:ext cx="11120438" cy="616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363" y="1225550"/>
            <a:ext cx="10455275" cy="4662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11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87" name="Google Shape;287;p11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descrittive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88" name="Google Shape;288;p11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4111625" y="172085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0206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95" name="Google Shape;295;p12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296" name="Google Shape;296;p12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97" name="Google Shape;297;p12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298" name="Google Shape;298;p12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PROCEDURE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12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CURVE DI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SOPRAVVIVENZA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12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5" name="Google Shape;305;p12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7" name="Google Shape;307;p12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ANALISI DESCRITTIVE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9" name="Google Shape;309;p12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11" name="Google Shape;311;p12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312" name="Google Shape;312;p12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" name="Google Shape;314;p12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2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317" name="Google Shape;317;p12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12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320" name="Google Shape;320;p12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2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13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28" name="Google Shape;328;p13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Curve di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sopravvivenza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9" name="Google Shape;329;p13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330" name="Google Shape;33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8713" y="1249363"/>
            <a:ext cx="7394575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Google Shape;335;p14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36" name="Google Shape;336;p14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Curve di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sopravvivenza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37" name="Google Shape;337;p14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338" name="Google Shape;33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96520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3" name="Google Shape;343;p15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44" name="Google Shape;344;p15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Curve di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sopravvivenza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45" name="Google Shape;345;p15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346" name="Google Shape;34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039813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4525" y="852488"/>
            <a:ext cx="8362950" cy="595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16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53" name="Google Shape;353;p16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Curve di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sopravvivenza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4" name="Google Shape;354;p16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17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60" name="Google Shape;360;p17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Curve di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sopravvivenza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1" name="Google Shape;361;p17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362" name="Google Shape;36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213" y="2570163"/>
            <a:ext cx="11495087" cy="18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4111625" y="172085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369" name="Google Shape;369;p18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370" name="Google Shape;370;p18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1" name="Google Shape;371;p18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372" name="Google Shape;372;p18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PROCEDURE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5" name="Google Shape;375;p18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CURVE DI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SOPRAVVIVENZA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18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9" name="Google Shape;379;p18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1" name="Google Shape;381;p18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ANALISI DESCRITTIVE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3" name="Google Shape;383;p18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85" name="Google Shape;385;p18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386" name="Google Shape;386;p18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8" name="Google Shape;388;p18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18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391" name="Google Shape;391;p18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18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394" name="Google Shape;394;p18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18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19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02" name="Google Shape;402;p19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Modello di Cox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3" name="Google Shape;403;p19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404" name="Google Shape;404;p19"/>
          <p:cNvPicPr preferRelativeResize="0"/>
          <p:nvPr/>
        </p:nvPicPr>
        <p:blipFill rotWithShape="1">
          <a:blip r:embed="rId3">
            <a:alphaModFix/>
          </a:blip>
          <a:srcRect l="4024" t="11935" r="3679" b="8813"/>
          <a:stretch/>
        </p:blipFill>
        <p:spPr>
          <a:xfrm>
            <a:off x="1257300" y="3095625"/>
            <a:ext cx="4343400" cy="1471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9"/>
          <p:cNvPicPr preferRelativeResize="0"/>
          <p:nvPr/>
        </p:nvPicPr>
        <p:blipFill rotWithShape="1">
          <a:blip r:embed="rId4">
            <a:alphaModFix/>
          </a:blip>
          <a:srcRect l="3505" t="12132" r="1313" b="6025"/>
          <a:stretch/>
        </p:blipFill>
        <p:spPr>
          <a:xfrm>
            <a:off x="1274763" y="1087438"/>
            <a:ext cx="4325937" cy="148113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9"/>
          <p:cNvSpPr txBox="1"/>
          <p:nvPr/>
        </p:nvSpPr>
        <p:spPr>
          <a:xfrm>
            <a:off x="8245474" y="1607344"/>
            <a:ext cx="3300413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 di «Sofa»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19"/>
          <p:cNvCxnSpPr/>
          <p:nvPr/>
        </p:nvCxnSpPr>
        <p:spPr>
          <a:xfrm>
            <a:off x="7827963" y="1150938"/>
            <a:ext cx="0" cy="1344612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8" name="Google Shape;408;p19"/>
          <p:cNvSpPr txBox="1"/>
          <p:nvPr/>
        </p:nvSpPr>
        <p:spPr>
          <a:xfrm>
            <a:off x="8112125" y="3598863"/>
            <a:ext cx="3567113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 di «CCScore»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9"/>
          <p:cNvCxnSpPr/>
          <p:nvPr/>
        </p:nvCxnSpPr>
        <p:spPr>
          <a:xfrm>
            <a:off x="7827963" y="3141663"/>
            <a:ext cx="0" cy="1344612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0" name="Google Shape;410;p19"/>
          <p:cNvSpPr txBox="1"/>
          <p:nvPr/>
        </p:nvSpPr>
        <p:spPr>
          <a:xfrm>
            <a:off x="8150657" y="5607049"/>
            <a:ext cx="3565525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 di «Albumina»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9"/>
          <p:cNvCxnSpPr/>
          <p:nvPr/>
        </p:nvCxnSpPr>
        <p:spPr>
          <a:xfrm>
            <a:off x="7827963" y="5149850"/>
            <a:ext cx="0" cy="1344613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12" name="Google Shape;412;p19"/>
          <p:cNvPicPr preferRelativeResize="0"/>
          <p:nvPr/>
        </p:nvPicPr>
        <p:blipFill rotWithShape="1">
          <a:blip r:embed="rId5">
            <a:alphaModFix/>
          </a:blip>
          <a:srcRect l="28863" t="1149" r="26568" b="80951"/>
          <a:stretch/>
        </p:blipFill>
        <p:spPr>
          <a:xfrm>
            <a:off x="1219200" y="4822825"/>
            <a:ext cx="4545013" cy="167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7" name="Google Shape;417;p20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18" name="Google Shape;418;p20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Modello di Cox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19" name="Google Shape;419;p20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420" name="Google Shape;420;p20"/>
          <p:cNvSpPr txBox="1"/>
          <p:nvPr/>
        </p:nvSpPr>
        <p:spPr>
          <a:xfrm>
            <a:off x="8271886" y="1552568"/>
            <a:ext cx="3300412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Modello aggiustato con le variabili d’interesse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p20"/>
          <p:cNvCxnSpPr/>
          <p:nvPr/>
        </p:nvCxnSpPr>
        <p:spPr>
          <a:xfrm>
            <a:off x="7835900" y="720430"/>
            <a:ext cx="0" cy="2434215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22" name="Google Shape;422;p20"/>
          <p:cNvPicPr preferRelativeResize="0"/>
          <p:nvPr/>
        </p:nvPicPr>
        <p:blipFill rotWithShape="1">
          <a:blip r:embed="rId3">
            <a:alphaModFix/>
          </a:blip>
          <a:srcRect l="14650" t="4160" r="14650" b="38988"/>
          <a:stretch/>
        </p:blipFill>
        <p:spPr>
          <a:xfrm>
            <a:off x="695325" y="3712437"/>
            <a:ext cx="5649913" cy="293211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 txBox="1"/>
          <p:nvPr/>
        </p:nvSpPr>
        <p:spPr>
          <a:xfrm>
            <a:off x="8270298" y="4454593"/>
            <a:ext cx="3302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Modello con la variabili «Sofa» e «CCScore» combinate stratificato per i diversi livelli</a:t>
            </a:r>
            <a:endParaRPr/>
          </a:p>
        </p:txBody>
      </p:sp>
      <p:cxnSp>
        <p:nvCxnSpPr>
          <p:cNvPr id="424" name="Google Shape;424;p20"/>
          <p:cNvCxnSpPr/>
          <p:nvPr/>
        </p:nvCxnSpPr>
        <p:spPr>
          <a:xfrm>
            <a:off x="7830127" y="3925162"/>
            <a:ext cx="0" cy="2520950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5" name="Google Shape;425;p20"/>
          <p:cNvSpPr txBox="1"/>
          <p:nvPr/>
        </p:nvSpPr>
        <p:spPr>
          <a:xfrm>
            <a:off x="887413" y="4785587"/>
            <a:ext cx="1293812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Basso</a:t>
            </a:r>
            <a:endParaRPr/>
          </a:p>
        </p:txBody>
      </p:sp>
      <p:sp>
        <p:nvSpPr>
          <p:cNvPr id="426" name="Google Shape;426;p20"/>
          <p:cNvSpPr txBox="1"/>
          <p:nvPr/>
        </p:nvSpPr>
        <p:spPr>
          <a:xfrm>
            <a:off x="887413" y="5288825"/>
            <a:ext cx="1293812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887413" y="5792062"/>
            <a:ext cx="1293812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3241675" y="5288825"/>
            <a:ext cx="3279775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1.48      0.90, 1.79</a:t>
            </a:r>
            <a:endParaRPr dirty="0"/>
          </a:p>
        </p:txBody>
      </p:sp>
      <p:sp>
        <p:nvSpPr>
          <p:cNvPr id="429" name="Google Shape;429;p20"/>
          <p:cNvSpPr txBox="1"/>
          <p:nvPr/>
        </p:nvSpPr>
        <p:spPr>
          <a:xfrm>
            <a:off x="3241675" y="5819050"/>
            <a:ext cx="3279775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2.09      0.95, 4.62</a:t>
            </a:r>
            <a:endParaRPr/>
          </a:p>
        </p:txBody>
      </p:sp>
      <p:sp>
        <p:nvSpPr>
          <p:cNvPr id="430" name="Google Shape;430;p20"/>
          <p:cNvSpPr txBox="1"/>
          <p:nvPr/>
        </p:nvSpPr>
        <p:spPr>
          <a:xfrm>
            <a:off x="5375275" y="4277587"/>
            <a:ext cx="1006475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 0.001</a:t>
            </a:r>
            <a:endParaRPr/>
          </a:p>
        </p:txBody>
      </p:sp>
      <p:pic>
        <p:nvPicPr>
          <p:cNvPr id="431" name="Google Shape;431;p20"/>
          <p:cNvPicPr preferRelativeResize="0"/>
          <p:nvPr/>
        </p:nvPicPr>
        <p:blipFill rotWithShape="1">
          <a:blip r:embed="rId4">
            <a:alphaModFix/>
          </a:blip>
          <a:srcRect l="25751" t="3579" r="24566" b="21080"/>
          <a:stretch/>
        </p:blipFill>
        <p:spPr>
          <a:xfrm>
            <a:off x="739775" y="625475"/>
            <a:ext cx="3268663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6" name="Google Shape;436;p21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37" name="Google Shape;437;p21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Modello di Cox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38" name="Google Shape;438;p21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439" name="Google Shape;439;p21"/>
          <p:cNvSpPr txBox="1"/>
          <p:nvPr/>
        </p:nvSpPr>
        <p:spPr>
          <a:xfrm>
            <a:off x="1560728" y="854077"/>
            <a:ext cx="3300412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Verifica degli assunti</a:t>
            </a:r>
            <a:endParaRPr sz="22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40" name="Google Shape;44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34" y="1525439"/>
            <a:ext cx="624840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1"/>
          <p:cNvPicPr preferRelativeResize="0"/>
          <p:nvPr/>
        </p:nvPicPr>
        <p:blipFill rotWithShape="1">
          <a:blip r:embed="rId4">
            <a:alphaModFix/>
          </a:blip>
          <a:srcRect r="19834" b="13873"/>
          <a:stretch/>
        </p:blipFill>
        <p:spPr>
          <a:xfrm>
            <a:off x="6848620" y="2879312"/>
            <a:ext cx="4759035" cy="25595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21"/>
          <p:cNvCxnSpPr/>
          <p:nvPr/>
        </p:nvCxnSpPr>
        <p:spPr>
          <a:xfrm rot="10800000">
            <a:off x="11579946" y="3383130"/>
            <a:ext cx="572654" cy="0"/>
          </a:xfrm>
          <a:prstGeom prst="straightConnector1">
            <a:avLst/>
          </a:prstGeom>
          <a:noFill/>
          <a:ln w="38100" cap="flat" cmpd="sng">
            <a:solidFill>
              <a:srgbClr val="CA7A0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3" name="Google Shape;443;p21"/>
          <p:cNvCxnSpPr/>
          <p:nvPr/>
        </p:nvCxnSpPr>
        <p:spPr>
          <a:xfrm flipH="1">
            <a:off x="10097509" y="4953311"/>
            <a:ext cx="595755" cy="2"/>
          </a:xfrm>
          <a:prstGeom prst="straightConnector1">
            <a:avLst/>
          </a:prstGeom>
          <a:noFill/>
          <a:ln w="38100" cap="flat" cmpd="sng">
            <a:solidFill>
              <a:srgbClr val="0C829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4" name="Google Shape;444;p21"/>
          <p:cNvSpPr txBox="1"/>
          <p:nvPr/>
        </p:nvSpPr>
        <p:spPr>
          <a:xfrm>
            <a:off x="7058536" y="923291"/>
            <a:ext cx="419633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it-IT" sz="2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Verifica del potere predittivo</a:t>
            </a:r>
            <a:endParaRPr sz="2200" b="1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45" name="Google Shape;445;p21"/>
          <p:cNvCxnSpPr/>
          <p:nvPr/>
        </p:nvCxnSpPr>
        <p:spPr>
          <a:xfrm flipH="1">
            <a:off x="6585527" y="2037196"/>
            <a:ext cx="12700" cy="4455968"/>
          </a:xfrm>
          <a:prstGeom prst="straightConnector1">
            <a:avLst/>
          </a:prstGeom>
          <a:noFill/>
          <a:ln w="1905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6" name="Google Shape;446;p21"/>
          <p:cNvCxnSpPr/>
          <p:nvPr/>
        </p:nvCxnSpPr>
        <p:spPr>
          <a:xfrm rot="10800000">
            <a:off x="10097509" y="4717783"/>
            <a:ext cx="572654" cy="0"/>
          </a:xfrm>
          <a:prstGeom prst="straightConnector1">
            <a:avLst/>
          </a:prstGeom>
          <a:noFill/>
          <a:ln w="38100" cap="flat" cmpd="sng">
            <a:solidFill>
              <a:srgbClr val="CA7A0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7" name="Google Shape;447;p21"/>
          <p:cNvCxnSpPr/>
          <p:nvPr/>
        </p:nvCxnSpPr>
        <p:spPr>
          <a:xfrm flipH="1">
            <a:off x="10660927" y="3583799"/>
            <a:ext cx="595755" cy="2"/>
          </a:xfrm>
          <a:prstGeom prst="straightConnector1">
            <a:avLst/>
          </a:prstGeom>
          <a:noFill/>
          <a:ln w="38100" cap="flat" cmpd="sng">
            <a:solidFill>
              <a:srgbClr val="0C829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2" name="Google Shape;452;p22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53" name="Google Shape;453;p22"/>
          <p:cNvSpPr txBox="1"/>
          <p:nvPr/>
        </p:nvSpPr>
        <p:spPr>
          <a:xfrm>
            <a:off x="228600" y="190500"/>
            <a:ext cx="11734800" cy="1163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Modello di Cox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54" name="Google Shape;454;p22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455" name="Google Shape;45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825" y="2854325"/>
            <a:ext cx="9404350" cy="158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/>
          <p:nvPr/>
        </p:nvSpPr>
        <p:spPr>
          <a:xfrm>
            <a:off x="4137025" y="1727200"/>
            <a:ext cx="3968750" cy="3968750"/>
          </a:xfrm>
          <a:prstGeom prst="ellipse">
            <a:avLst/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62" name="Google Shape;462;p23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63" name="Google Shape;463;p23"/>
          <p:cNvSpPr txBox="1"/>
          <p:nvPr/>
        </p:nvSpPr>
        <p:spPr>
          <a:xfrm>
            <a:off x="228600" y="190500"/>
            <a:ext cx="11734800" cy="77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Analisi del progetto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64" name="Google Shape;464;p23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465" name="Google Shape;465;p23"/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it-IT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PROGETTO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3">
            <a:hlinkClick r:id="rId3" action="ppaction://hlinksldjump"/>
          </p:cNvPr>
          <p:cNvSpPr/>
          <p:nvPr/>
        </p:nvSpPr>
        <p:spPr>
          <a:xfrm>
            <a:off x="6943725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PROCEDURE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PRELIMINARI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8" name="Google Shape;468;p23">
            <a:hlinkClick r:id="rId4" action="ppaction://hlinksldjump"/>
          </p:cNvPr>
          <p:cNvSpPr/>
          <p:nvPr/>
        </p:nvSpPr>
        <p:spPr>
          <a:xfrm>
            <a:off x="7693025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CURVE DI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SOPRAVVIVENZA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7489825" y="323532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0" name="Google Shape;470;p23">
            <a:hlinkClick r:id="rId5" action="ppaction://hlinksldjump"/>
          </p:cNvPr>
          <p:cNvSpPr/>
          <p:nvPr/>
        </p:nvSpPr>
        <p:spPr>
          <a:xfrm>
            <a:off x="6943725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LIMITI E CONCLUSIONI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6832600" y="5056188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2" name="Google Shape;472;p23">
            <a:hlinkClick r:id="rId6" action="ppaction://hlinksldjump"/>
          </p:cNvPr>
          <p:cNvSpPr/>
          <p:nvPr/>
        </p:nvSpPr>
        <p:spPr>
          <a:xfrm>
            <a:off x="1477963" y="161448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INTRODUZIONE e DISEGNO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4" name="Google Shape;474;p23">
            <a:hlinkClick r:id="rId7" action="ppaction://hlinksldjump"/>
          </p:cNvPr>
          <p:cNvSpPr/>
          <p:nvPr/>
        </p:nvSpPr>
        <p:spPr>
          <a:xfrm>
            <a:off x="838200" y="3335338"/>
            <a:ext cx="3660775" cy="73977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ANALISI DESCRITTIVE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6" name="Google Shape;476;p23">
            <a:hlinkClick r:id="rId8" action="ppaction://hlinksldjump"/>
          </p:cNvPr>
          <p:cNvSpPr/>
          <p:nvPr/>
        </p:nvSpPr>
        <p:spPr>
          <a:xfrm>
            <a:off x="1587500" y="5154613"/>
            <a:ext cx="3660775" cy="74136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MODELLO DI COX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4419600" y="5056188"/>
            <a:ext cx="939800" cy="939800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78" name="Google Shape;478;p23" descr="Icone di grafico a barre e grafico a linee."/>
          <p:cNvGrpSpPr/>
          <p:nvPr/>
        </p:nvGrpSpPr>
        <p:grpSpPr>
          <a:xfrm>
            <a:off x="4714875" y="1809750"/>
            <a:ext cx="349250" cy="349250"/>
            <a:chOff x="4319588" y="2492375"/>
            <a:chExt cx="287338" cy="287338"/>
          </a:xfrm>
        </p:grpSpPr>
        <p:sp>
          <p:nvSpPr>
            <p:cNvPr id="479" name="Google Shape;479;p23"/>
            <p:cNvSpPr/>
            <p:nvPr/>
          </p:nvSpPr>
          <p:spPr>
            <a:xfrm>
              <a:off x="4319588" y="2587625"/>
              <a:ext cx="287338" cy="192088"/>
            </a:xfrm>
            <a:custGeom>
              <a:avLst/>
              <a:gdLst/>
              <a:ahLst/>
              <a:cxnLst/>
              <a:rect l="l" t="t" r="r" b="b"/>
              <a:pathLst>
                <a:path w="904" h="602" extrusionOk="0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4338638" y="2492375"/>
              <a:ext cx="252413" cy="157163"/>
            </a:xfrm>
            <a:custGeom>
              <a:avLst/>
              <a:gdLst/>
              <a:ahLst/>
              <a:cxnLst/>
              <a:rect l="l" t="t" r="r" b="b"/>
              <a:pathLst>
                <a:path w="797" h="497" extrusionOk="0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23" descr="Icona di casella di controllo. "/>
          <p:cNvSpPr/>
          <p:nvPr/>
        </p:nvSpPr>
        <p:spPr>
          <a:xfrm>
            <a:off x="7129463" y="181133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719" h="719" extrusionOk="0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3" descr="Icona di grafico. "/>
          <p:cNvSpPr/>
          <p:nvPr/>
        </p:nvSpPr>
        <p:spPr>
          <a:xfrm>
            <a:off x="7877175" y="3530600"/>
            <a:ext cx="349250" cy="349250"/>
          </a:xfrm>
          <a:custGeom>
            <a:avLst/>
            <a:gdLst/>
            <a:ahLst/>
            <a:cxnLst/>
            <a:rect l="l" t="t" r="r" b="b"/>
            <a:pathLst>
              <a:path w="904" h="903" extrusionOk="0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23" descr="Icona di persona e ingranaggio. "/>
          <p:cNvGrpSpPr/>
          <p:nvPr/>
        </p:nvGrpSpPr>
        <p:grpSpPr>
          <a:xfrm>
            <a:off x="7134225" y="5356225"/>
            <a:ext cx="336550" cy="339725"/>
            <a:chOff x="6450013" y="5349875"/>
            <a:chExt cx="279399" cy="280988"/>
          </a:xfrm>
        </p:grpSpPr>
        <p:sp>
          <p:nvSpPr>
            <p:cNvPr id="484" name="Google Shape;484;p23"/>
            <p:cNvSpPr/>
            <p:nvPr/>
          </p:nvSpPr>
          <p:spPr>
            <a:xfrm>
              <a:off x="6450013" y="5349875"/>
              <a:ext cx="182562" cy="238125"/>
            </a:xfrm>
            <a:custGeom>
              <a:avLst/>
              <a:gdLst/>
              <a:ahLst/>
              <a:cxnLst/>
              <a:rect l="l" t="t" r="r" b="b"/>
              <a:pathLst>
                <a:path w="459" h="602" extrusionOk="0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6597650" y="5497513"/>
              <a:ext cx="131762" cy="133350"/>
            </a:xfrm>
            <a:custGeom>
              <a:avLst/>
              <a:gdLst/>
              <a:ahLst/>
              <a:cxnLst/>
              <a:rect l="l" t="t" r="r" b="b"/>
              <a:pathLst>
                <a:path w="332" h="336" extrusionOk="0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23" descr="Icona di ingranaggi. "/>
          <p:cNvGrpSpPr/>
          <p:nvPr/>
        </p:nvGrpSpPr>
        <p:grpSpPr>
          <a:xfrm>
            <a:off x="4718050" y="5353050"/>
            <a:ext cx="342900" cy="344488"/>
            <a:chOff x="7613650" y="1387475"/>
            <a:chExt cx="284163" cy="284163"/>
          </a:xfrm>
        </p:grpSpPr>
        <p:sp>
          <p:nvSpPr>
            <p:cNvPr id="487" name="Google Shape;487;p23"/>
            <p:cNvSpPr/>
            <p:nvPr/>
          </p:nvSpPr>
          <p:spPr>
            <a:xfrm>
              <a:off x="7613650" y="1471613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629" h="629" extrusionOk="0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7781925" y="1387475"/>
              <a:ext cx="115888" cy="117475"/>
            </a:xfrm>
            <a:custGeom>
              <a:avLst/>
              <a:gdLst/>
              <a:ahLst/>
              <a:cxnLst/>
              <a:rect l="l" t="t" r="r" b="b"/>
              <a:pathLst>
                <a:path w="362" h="369" extrusionOk="0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" name="Google Shape;489;p23" descr="Icona di grafico a scatola e baffi. "/>
          <p:cNvSpPr/>
          <p:nvPr/>
        </p:nvSpPr>
        <p:spPr>
          <a:xfrm>
            <a:off x="3967163" y="3532188"/>
            <a:ext cx="346075" cy="346075"/>
          </a:xfrm>
          <a:custGeom>
            <a:avLst/>
            <a:gdLst/>
            <a:ahLst/>
            <a:cxnLst/>
            <a:rect l="l" t="t" r="r" b="b"/>
            <a:pathLst>
              <a:path w="898" h="898" extrusionOk="0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/>
          <p:nvPr/>
        </p:nvSpPr>
        <p:spPr>
          <a:xfrm>
            <a:off x="4835525" y="990600"/>
            <a:ext cx="2520950" cy="581025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6" name="Google Shape;496;p24"/>
          <p:cNvSpPr/>
          <p:nvPr/>
        </p:nvSpPr>
        <p:spPr>
          <a:xfrm rot="-4052973">
            <a:off x="4835525" y="981075"/>
            <a:ext cx="2520950" cy="581025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7" name="Google Shape;497;p24"/>
          <p:cNvSpPr/>
          <p:nvPr/>
        </p:nvSpPr>
        <p:spPr>
          <a:xfrm rot="4044665">
            <a:off x="4835525" y="981075"/>
            <a:ext cx="2520950" cy="581025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8" name="Google Shape;498;p24"/>
          <p:cNvSpPr/>
          <p:nvPr/>
        </p:nvSpPr>
        <p:spPr>
          <a:xfrm rot="-4052973">
            <a:off x="4835525" y="990600"/>
            <a:ext cx="2520950" cy="5810250"/>
          </a:xfrm>
          <a:prstGeom prst="ellipse">
            <a:avLst/>
          </a:prstGeom>
          <a:noFill/>
          <a:ln w="381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499" name="Google Shape;499;p24"/>
          <p:cNvCxnSpPr/>
          <p:nvPr/>
        </p:nvCxnSpPr>
        <p:spPr>
          <a:xfrm>
            <a:off x="8105775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500" name="Google Shape;500;p24"/>
          <p:cNvSpPr txBox="1"/>
          <p:nvPr/>
        </p:nvSpPr>
        <p:spPr>
          <a:xfrm>
            <a:off x="228600" y="190500"/>
            <a:ext cx="11734800" cy="105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Criticità incontrate 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entury Gothic"/>
              <a:buNone/>
            </a:pPr>
            <a:r>
              <a:rPr lang="it-IT" sz="2800" b="1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potenzialità future</a:t>
            </a:r>
            <a:br>
              <a:rPr lang="it-IT" sz="2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it-IT" sz="20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01" name="Google Shape;501;p24"/>
          <p:cNvCxnSpPr/>
          <p:nvPr/>
        </p:nvCxnSpPr>
        <p:spPr>
          <a:xfrm>
            <a:off x="0" y="522288"/>
            <a:ext cx="4086225" cy="0"/>
          </a:xfrm>
          <a:prstGeom prst="straightConnector1">
            <a:avLst/>
          </a:prstGeom>
          <a:noFill/>
          <a:ln w="9525" cap="flat" cmpd="sng">
            <a:solidFill>
              <a:srgbClr val="085763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502" name="Google Shape;502;p24"/>
          <p:cNvSpPr/>
          <p:nvPr/>
        </p:nvSpPr>
        <p:spPr>
          <a:xfrm>
            <a:off x="4679950" y="1946275"/>
            <a:ext cx="730250" cy="715963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3" name="Google Shape;503;p24"/>
          <p:cNvSpPr txBox="1"/>
          <p:nvPr/>
        </p:nvSpPr>
        <p:spPr>
          <a:xfrm>
            <a:off x="1341756" y="5594883"/>
            <a:ext cx="3594100" cy="91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ricerche saranno utili per  approfondire associazione tra SOFA e mortalità</a:t>
            </a:r>
            <a:endParaRPr/>
          </a:p>
        </p:txBody>
      </p:sp>
      <p:sp>
        <p:nvSpPr>
          <p:cNvPr id="504" name="Google Shape;504;p24"/>
          <p:cNvSpPr txBox="1"/>
          <p:nvPr/>
        </p:nvSpPr>
        <p:spPr>
          <a:xfrm>
            <a:off x="7551738" y="1376546"/>
            <a:ext cx="320992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Numero limitato di pazienti  inseriti nella coorte</a:t>
            </a: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4679950" y="5087938"/>
            <a:ext cx="730250" cy="715962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6" name="Google Shape;506;p24"/>
          <p:cNvSpPr txBox="1"/>
          <p:nvPr/>
        </p:nvSpPr>
        <p:spPr>
          <a:xfrm>
            <a:off x="8821738" y="3513138"/>
            <a:ext cx="25717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Distribuzioni di Sofa e CCScore asimmetriche</a:t>
            </a:r>
            <a:endParaRPr/>
          </a:p>
        </p:txBody>
      </p:sp>
      <p:sp>
        <p:nvSpPr>
          <p:cNvPr id="507" name="Google Shape;507;p24"/>
          <p:cNvSpPr/>
          <p:nvPr/>
        </p:nvSpPr>
        <p:spPr>
          <a:xfrm>
            <a:off x="6788150" y="1946275"/>
            <a:ext cx="731838" cy="715963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8020050" y="3529013"/>
            <a:ext cx="731838" cy="714375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3440113" y="3529013"/>
            <a:ext cx="731837" cy="714375"/>
          </a:xfrm>
          <a:prstGeom prst="ellipse">
            <a:avLst/>
          </a:prstGeom>
          <a:solidFill>
            <a:srgbClr val="0C829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6788150" y="5089525"/>
            <a:ext cx="731838" cy="715963"/>
          </a:xfrm>
          <a:prstGeom prst="ellipse">
            <a:avLst/>
          </a:prstGeom>
          <a:solidFill>
            <a:srgbClr val="CA7A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1" name="Google Shape;511;p24"/>
          <p:cNvSpPr txBox="1"/>
          <p:nvPr/>
        </p:nvSpPr>
        <p:spPr>
          <a:xfrm>
            <a:off x="7446963" y="5651500"/>
            <a:ext cx="376713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Gli indici di interesse sono stati categorizzati in pochi livelli: potenziale perdita di informazione</a:t>
            </a:r>
            <a:endParaRPr/>
          </a:p>
        </p:txBody>
      </p:sp>
      <p:sp>
        <p:nvSpPr>
          <p:cNvPr id="512" name="Google Shape;512;p24"/>
          <p:cNvSpPr txBox="1"/>
          <p:nvPr/>
        </p:nvSpPr>
        <p:spPr>
          <a:xfrm>
            <a:off x="615949" y="1425398"/>
            <a:ext cx="402431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L’analisi qualitativa delle curve è rafforzata dal test statistico «Log-rank»</a:t>
            </a: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3" name="Google Shape;513;p24"/>
          <p:cNvSpPr txBox="1"/>
          <p:nvPr/>
        </p:nvSpPr>
        <p:spPr>
          <a:xfrm>
            <a:off x="349755" y="3624580"/>
            <a:ext cx="354676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Modello di Cox conferma i risultati emersi dalle curve di sopravvivenza</a:t>
            </a:r>
            <a:endParaRPr sz="18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4633913" y="2105025"/>
            <a:ext cx="10271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</a:t>
            </a:r>
            <a:endParaRPr/>
          </a:p>
        </p:txBody>
      </p:sp>
      <p:sp>
        <p:nvSpPr>
          <p:cNvPr id="515" name="Google Shape;515;p24"/>
          <p:cNvSpPr txBox="1"/>
          <p:nvPr/>
        </p:nvSpPr>
        <p:spPr>
          <a:xfrm>
            <a:off x="3413125" y="3686175"/>
            <a:ext cx="96678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</a:t>
            </a:r>
            <a:endParaRPr/>
          </a:p>
        </p:txBody>
      </p:sp>
      <p:sp>
        <p:nvSpPr>
          <p:cNvPr id="516" name="Google Shape;516;p24"/>
          <p:cNvSpPr txBox="1"/>
          <p:nvPr/>
        </p:nvSpPr>
        <p:spPr>
          <a:xfrm>
            <a:off x="4654550" y="5262563"/>
            <a:ext cx="10128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PROS</a:t>
            </a:r>
            <a:endParaRPr/>
          </a:p>
        </p:txBody>
      </p:sp>
      <p:sp>
        <p:nvSpPr>
          <p:cNvPr id="517" name="Google Shape;517;p24"/>
          <p:cNvSpPr txBox="1"/>
          <p:nvPr/>
        </p:nvSpPr>
        <p:spPr>
          <a:xfrm>
            <a:off x="6735763" y="5262563"/>
            <a:ext cx="10826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</a:t>
            </a:r>
            <a:endParaRPr/>
          </a:p>
        </p:txBody>
      </p:sp>
      <p:sp>
        <p:nvSpPr>
          <p:cNvPr id="518" name="Google Shape;518;p24"/>
          <p:cNvSpPr txBox="1"/>
          <p:nvPr/>
        </p:nvSpPr>
        <p:spPr>
          <a:xfrm>
            <a:off x="7954963" y="3686175"/>
            <a:ext cx="10985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</a:t>
            </a:r>
            <a:endParaRPr/>
          </a:p>
        </p:txBody>
      </p:sp>
      <p:sp>
        <p:nvSpPr>
          <p:cNvPr id="519" name="Google Shape;519;p24"/>
          <p:cNvSpPr txBox="1"/>
          <p:nvPr/>
        </p:nvSpPr>
        <p:spPr>
          <a:xfrm>
            <a:off x="6716713" y="2105025"/>
            <a:ext cx="10842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ema di Office">
  <a:themeElements>
    <a:clrScheme name="Custom 73">
      <a:dk1>
        <a:srgbClr val="000000"/>
      </a:dk1>
      <a:lt1>
        <a:srgbClr val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PresentationFormat>Widescreen</PresentationFormat>
  <Paragraphs>170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9" baseType="lpstr">
      <vt:lpstr>Century Gothic</vt:lpstr>
      <vt:lpstr>Quattrocento Sans</vt:lpstr>
      <vt:lpstr>Arial</vt:lpstr>
      <vt:lpstr>Calibri</vt:lpstr>
      <vt:lpstr>Tema di Office</vt:lpstr>
      <vt:lpstr>Sofa e CCScore:  un’analisi di sopravvivenza su una coorte di pazienti geriatrici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a.millone@campus.unimib.it</dc:creator>
  <cp:lastModifiedBy>Andrea Millone</cp:lastModifiedBy>
  <cp:revision>1</cp:revision>
  <dcterms:created xsi:type="dcterms:W3CDTF">2023-01-20T08:04:48Z</dcterms:created>
  <dcterms:modified xsi:type="dcterms:W3CDTF">2025-05-05T12:36:45Z</dcterms:modified>
</cp:coreProperties>
</file>